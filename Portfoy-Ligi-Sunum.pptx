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Merhaba. Size sanal parayla gerçek piyasada işlem yapılan bir yatırım</a:t>
            </a:r>
          </a:p>
          <a:p>
            <a:r>
              <a:t>platformu anlatacağım. Ama asıl anlatacağım şey, platformun kullanıcının kendi</a:t>
            </a:r>
          </a:p>
          <a:p>
            <a:r>
              <a:t>yatırım davranışını nasıl ölçtüğü ve yorumladığı.</a:t>
            </a:r>
          </a:p>
          <a:p/>
          <a:p>
            <a:r>
              <a:t>Süre: ~22 dakika. Ortadaki telefondan canlı göstereceğim.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Bir yatırımcı düşünün. Sabah kalkıyor, Bitcoin'e bakıyor. Altın kaç</a:t>
            </a:r>
          </a:p>
          <a:p>
            <a:r>
              <a:t>olmuş, dolar ne yapmış, portföyü ne durumda... Gün içinde onlarca veriye bakıyor.</a:t>
            </a:r>
          </a:p>
          <a:p/>
          <a:p>
            <a:r>
              <a:t>AMA günün sonunda en önemli sorunun cevabını bilmiyor:</a:t>
            </a:r>
          </a:p>
          <a:p>
            <a:r>
              <a:t>Ben bu işlemleri neden yaptım? Ve gerçekten doğru mu yatırım yapıyorum?</a:t>
            </a:r>
          </a:p>
          <a:p/>
          <a:p>
            <a:r>
              <a:t>[Geçiş] Aslında burada iki farklı şeyden bahsediyoruz...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Piyasa uygulamaları soldakini çok iyi yapıyor. Sayıyı gösteriyorlar.</a:t>
            </a:r>
          </a:p>
          <a:p>
            <a:r>
              <a:t>Ama hiçbiri ŞUNU söylemiyor: bu sayı senin hangi alışkanlığının sonucu?</a:t>
            </a:r>
          </a:p>
          <a:p/>
          <a:p>
            <a:r>
              <a:t>İşte biz bu boşluğa baktık. Piyasayı gösteren çok uygulama var; yatırımcıyı</a:t>
            </a:r>
          </a:p>
          <a:p>
            <a:r>
              <a:t>gösteren yok.</a:t>
            </a:r>
          </a:p>
          <a:p/>
          <a:p>
            <a:r>
              <a:t>[Geçiş] Bunu çözmek için ne yaptığımızı anlatayım.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Biz yalnızca bir yatırım simülasyonu yapmadık. Kullanıcının 100.000 TL</a:t>
            </a:r>
          </a:p>
          <a:p>
            <a:r>
              <a:t>sanal bakiyeyle gerçek piyasa fiyatlarından işlem yaptığı bir platform - evet.</a:t>
            </a:r>
          </a:p>
          <a:p/>
          <a:p>
            <a:r>
              <a:t>Ama asıl fark şurada: sistem, kullanıcının yatırım DAVRANIŞINI da kaydediyor</a:t>
            </a:r>
          </a:p>
          <a:p>
            <a:r>
              <a:t>ve anlamlandırıyor.</a:t>
            </a:r>
          </a:p>
          <a:p/>
          <a:p>
            <a:r>
              <a:t>[Geçiş] Nasıl çalıştığını canlı göstereyim.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[CANLI DEMO — uygulamayı aç, sekmelerde gez]</a:t>
            </a:r>
          </a:p>
          <a:p/>
          <a:p>
            <a:r>
              <a:t>Uygulama beş sekmeden oluşuyor: Akış, Piyasa, Lig, Cüzdan ve KocAI.</a:t>
            </a:r>
          </a:p>
          <a:p>
            <a:r>
              <a:t>Arkadaşlar, Ya Alsaydın ve profil gibi ekranlar sekme değil - ilgili yerden</a:t>
            </a:r>
          </a:p>
          <a:p>
            <a:r>
              <a:t>açılan katmanlar. Yer olan şeye sekme verdik, araç olana vermedik.</a:t>
            </a:r>
          </a:p>
          <a:p/>
          <a:p>
            <a:r>
              <a:t>Kullanıcı kayıt olduğunda 100.000 TL sanal bakiye alıyor. Buradaki fiyatların</a:t>
            </a:r>
          </a:p>
          <a:p>
            <a:r>
              <a:t>hiçbiri uydurma değil: kripto Binance'ten, döviz ve altın TCMB ile LBMA'dan,</a:t>
            </a:r>
          </a:p>
          <a:p>
            <a:r>
              <a:t>hisseler Yahoo Finance'ten geliyor.</a:t>
            </a:r>
          </a:p>
          <a:p/>
          <a:p>
            <a:r>
              <a:t>Yani risk sanal, piyasa gerçek.</a:t>
            </a:r>
          </a:p>
          <a:p/>
          <a:p>
            <a:r>
              <a:t>[Geçiş] Piyasa sekmesinden başlayalım.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[CANLI DEMO — Piyasa sekmesi]</a:t>
            </a:r>
          </a:p>
          <a:p/>
          <a:p>
            <a:r>
              <a:t>Piyasada dört varlık sınıfı var: on kripto, sekiz döviz, altın ve gümüş, ve</a:t>
            </a:r>
          </a:p>
          <a:p>
            <a:r>
              <a:t>otuz ABD hissesi. Toplam 50 varlık.</a:t>
            </a:r>
          </a:p>
          <a:p/>
          <a:p>
            <a:r>
              <a:t>Arama ve filtre var, bir de TL/dolar gösterim anahtarı. Ama dikkat: para birimi</a:t>
            </a:r>
          </a:p>
          <a:p>
            <a:r>
              <a:t>tercihi yalnızca bir GÖSTERİM merceği. Lig sıralaması her zaman TL üzerinden</a:t>
            </a:r>
          </a:p>
          <a:p>
            <a:r>
              <a:t>hesaplanıyor - yoksa aynı portföy iki kullanıcıda farklı sıralanırdı.</a:t>
            </a:r>
          </a:p>
          <a:p/>
          <a:p>
            <a:r>
              <a:t>Hisselerde bir ayrıntı: piyasa kapalıyken fiyat hiç sorulmuyor. Kapalı bir</a:t>
            </a:r>
          </a:p>
          <a:p>
            <a:r>
              <a:t>piyasaya fiyat yazmak, olmayan bir işlemi varmış gibi göstermek olurdu.</a:t>
            </a:r>
          </a:p>
          <a:p/>
          <a:p>
            <a:r>
              <a:t>[Geçiş] Bir varlığa dokunalım.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[CANLI DEMO — bir varlığa dokun, grafiği göster]</a:t>
            </a:r>
          </a:p>
          <a:p/>
          <a:p>
            <a:r>
              <a:t>Grafiği hazır bir kütüphaneyle yapmadık, sıfırdan SVG olarak çizdik. İki</a:t>
            </a:r>
          </a:p>
          <a:p>
            <a:r>
              <a:t>parmakla yakınlaştırabiliyorsunuz, parmağınızı sürüklediğinizde o anın fiyatını</a:t>
            </a:r>
          </a:p>
          <a:p>
            <a:r>
              <a:t>ve tarihini okuyorsunuz. Altı zaman aralığı var, en genişi 2017'ye kadar gidiyor.</a:t>
            </a:r>
          </a:p>
          <a:p/>
          <a:p>
            <a:r>
              <a:t>Teknik bir ayrıntı: 15 saniyelik cron günde varlık başına 5.760 satır yazıyor.</a:t>
            </a:r>
          </a:p>
          <a:p>
            <a:r>
              <a:t>Bir aylık aralık 170.000 satır demek - hem sorgu hem çizim boğulurdu. Sunucu</a:t>
            </a:r>
          </a:p>
          <a:p>
            <a:r>
              <a:t>veriyi zaman kovalarına bölüp her kovadan son fiyatı alıyor.</a:t>
            </a:r>
          </a:p>
          <a:p/>
          <a:p>
            <a:r>
              <a:t>[Geçiş] Şimdi bir işlem yapalım.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Kullanıcı Bitcoin alıyor. Fiyatı SUNUCU belirliyor - istemciden gelen</a:t>
            </a:r>
          </a:p>
          <a:p>
            <a:r>
              <a:t>fiyata güvenmiyoruz, yoksa ligi ilk gün kırardık.</a:t>
            </a:r>
          </a:p>
          <a:p/>
          <a:p>
            <a:r>
              <a:t>Sistem işlemi kaydediyor: hangi varlık, hangi fiyat, ne kadar, ne zaman,</a:t>
            </a:r>
          </a:p>
          <a:p>
            <a:r>
              <a:t>sonrasında bakiye ne oldu.</a:t>
            </a:r>
          </a:p>
          <a:p/>
          <a:p>
            <a:r>
              <a:t>AMA son satır en önemlisi.</a:t>
            </a:r>
          </a:p>
          <a:p/>
          <a:p>
            <a:r>
              <a:t>[Geçiş] O son satıra - kullanıcının kendi notuna - ayrı bir slayt ayırmam lazım.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Kullanıcı işlem yaparken bir cümle not bırakabiliyor. Küçük bir alan</a:t>
            </a:r>
          </a:p>
          <a:p>
            <a:r>
              <a:t>ama sistemin en değerli verisi.</a:t>
            </a:r>
          </a:p>
          <a:p/>
          <a:p>
            <a:r>
              <a:t>Çünkü bir göstergeyle NE YAPTIĞINI ölçebilirsiniz - ama NEDEN yaptığını</a:t>
            </a:r>
          </a:p>
          <a:p>
            <a:r>
              <a:t>ölçemezsiniz. Niyet ölçülemez. Burada kullanıcı onu kendisi yazıyor.</a:t>
            </a:r>
          </a:p>
          <a:p/>
          <a:p>
            <a:r>
              <a:t>[Geçiş] Bir de geçmişe bakan bir özellik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[CANLI DEMO — Ya Alsaydın]</a:t>
            </a:r>
          </a:p>
          <a:p/>
          <a:p>
            <a:r>
              <a:t>Kullanıcı geçmiş bir tarih ve tutar seçiyor. Bu ekrandaki sayı uydurma değil,</a:t>
            </a:r>
          </a:p>
          <a:p>
            <a:r>
              <a:t>sistemin kendi API'sinden geliyor: 12 Mart 2020'de - yani pandemi dibinde -</a:t>
            </a:r>
          </a:p>
          <a:p>
            <a:r>
              <a:t>10.000 lira Bitcoin alsaydınız bugün 1 milyon 327 bin lira olurdu.</a:t>
            </a:r>
          </a:p>
          <a:p/>
          <a:p>
            <a:r>
              <a:t>Ama asıl önemli olan ikinci satır. Nominal getiri yüzde 13 bin. Peki bunun ne</a:t>
            </a:r>
          </a:p>
          <a:p>
            <a:r>
              <a:t>kadarı gerçek alım gücü artışı? TÜFE'yle düzelttiğinizde yüzde 1.351.</a:t>
            </a:r>
          </a:p>
          <a:p/>
          <a:p>
            <a:r>
              <a:t>Bunu ayrıca gösteriyoruz çünkü Türkiye'de nominal getiri tek başına yanıltıcı.</a:t>
            </a:r>
          </a:p>
          <a:p/>
          <a:p>
            <a:r>
              <a:t>[Geçiş] Peki kullanıcılar birbirleriyle nasıl yarışıyor?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[CANLI DEMO — Lig sekmesi]</a:t>
            </a:r>
          </a:p>
          <a:p/>
          <a:p>
            <a:r>
              <a:t>Lig haftalık. Her pazar gece yarısına doğru dönem otomatik kapanıyor, sıralama</a:t>
            </a:r>
          </a:p>
          <a:p>
            <a:r>
              <a:t>sunucuda hesaplanıp mühürleniyor ve yeni dönem açılıyor.</a:t>
            </a:r>
          </a:p>
          <a:p/>
          <a:p>
            <a:r>
              <a:t>Ama asıl karar şu: sıralamayı neye göre yapıyoruz? Mutlak bakiyeye göre</a:t>
            </a:r>
          </a:p>
          <a:p>
            <a:r>
              <a:t>sıralasak, günlük bonus alan yeni bir kullanıcı "kazanmış" görünürdü - çünkü</a:t>
            </a:r>
          </a:p>
          <a:p>
            <a:r>
              <a:t>bakiyesi arttı, ama bunu yatırım kararıyla kazanmadı.</a:t>
            </a:r>
          </a:p>
          <a:p/>
          <a:p>
            <a:r>
              <a:t>Onun yerine TWR kullanıyoruz: zaman ağırlıklı getiri. Para giriş çıkışlarını</a:t>
            </a:r>
          </a:p>
          <a:p>
            <a:r>
              <a:t>getiriden ayırıyor. Yani ölçtüğümüz tek şey, yatırım kararlarının kendisi.</a:t>
            </a:r>
          </a:p>
          <a:p/>
          <a:p>
            <a:r>
              <a:t>[Geçiş] Ve kullanıcılar bunu paylaşabiliyor.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[CANLI DEMO — Akış sekmesi]</a:t>
            </a:r>
          </a:p>
          <a:p/>
          <a:p>
            <a:r>
              <a:t>Kullanıcılar yaptıkları işlemi, portföylerini ya da bir "ya alsaydın" sonucunu</a:t>
            </a:r>
          </a:p>
          <a:p>
            <a:r>
              <a:t>tek dokunuşla paylaşabiliyor. Akışta arkadaşlarının ne yaptığını görüyorlar.</a:t>
            </a:r>
          </a:p>
          <a:p/>
          <a:p>
            <a:r>
              <a:t>Arkadaşlık sistemi var, profil ekranında gizlilik ayarları var - portföy</a:t>
            </a:r>
          </a:p>
          <a:p>
            <a:r>
              <a:t>dağılımını herkese açabilir, sadece arkadaşlara açabilir ya da tamamen</a:t>
            </a:r>
          </a:p>
          <a:p>
            <a:r>
              <a:t>kapatabilirsiniz.</a:t>
            </a:r>
          </a:p>
          <a:p/>
          <a:p>
            <a:r>
              <a:t>Bir de admin paneli var: kullanıcı ve gönderi moderasyonu. Yetki kontrolü</a:t>
            </a:r>
          </a:p>
          <a:p>
            <a:r>
              <a:t>istemcide gizlemekle değil, sunucuda zorunlu tutularak yapılıyor.</a:t>
            </a:r>
          </a:p>
          <a:p/>
          <a:p>
            <a:r>
              <a:t>[Geçiş] Şimdi sunumun asıl kısmına geliyoruz. Bütün bu veriler toplandı -</a:t>
            </a:r>
          </a:p>
          <a:p>
            <a:r>
              <a:t>peki bunlarla ne yapıyoruz?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Burada en sık yapılan hatayı yapmadık. Modele "şu kullanıcı hakkında ne</a:t>
            </a:r>
          </a:p>
          <a:p>
            <a:r>
              <a:t>düşünüyorsun" diye SORMUYORUZ. Çünkü öyle sorarsanız model uydurur - kulağa</a:t>
            </a:r>
          </a:p>
          <a:p>
            <a:r>
              <a:t>akıllıca gelen ama dayanağı olmayan bir şey söyler.</a:t>
            </a:r>
          </a:p>
          <a:p/>
          <a:p>
            <a:r>
              <a:t>Bizde hesabı sunucu yapıyor, modelin işi yalnızca anlatmak.</a:t>
            </a:r>
          </a:p>
          <a:p/>
          <a:p>
            <a:r>
              <a:t>[Geçiş] Peki sunucu neyi ölçüyor?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Sunucu, kullanıcının emir geçmişinden yedi davranış göstergesi</a:t>
            </a:r>
          </a:p>
          <a:p>
            <a:r>
              <a:t>hesaplıyor. Dikkat edin - bunlar suçlama değil, ölçüm.</a:t>
            </a:r>
          </a:p>
          <a:p/>
          <a:p>
            <a:r>
              <a:t>Mesela panik satışı ölçerken kodda şu not yazıyor: "disiplinli zarar kesme bu</a:t>
            </a:r>
          </a:p>
          <a:p>
            <a:r>
              <a:t>ölçümde aynı görünür; niyet ölçülemez, o yüzden suçlama yapılmaz."</a:t>
            </a:r>
          </a:p>
          <a:p/>
          <a:p>
            <a:r>
              <a:t>Aşırı işlemde de işlem SAYISINI değil, komisyonun sermayeden götürdüğü payı</a:t>
            </a:r>
          </a:p>
          <a:p>
            <a:r>
              <a:t>ölçüyoruz - çünkü asıl zarar orada.</a:t>
            </a:r>
          </a:p>
          <a:p/>
          <a:p>
            <a:r>
              <a:t>[Geçiş] Bu bulgular, modele giden üç katmandan sadece biri.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İşte modelin gördüğü şey TAM OLARAK bu. Üç katman:</a:t>
            </a:r>
          </a:p>
          <a:p>
            <a:r>
              <a:t>1) sunucunun ölçtüğü bulgular,</a:t>
            </a:r>
          </a:p>
          <a:p>
            <a:r>
              <a:t>2) portföyün ORANLARI,</a:t>
            </a:r>
          </a:p>
          <a:p>
            <a:r>
              <a:t>3) son yirmi işlem - kullanıcının kendi notlarıyla birlikte.</a:t>
            </a:r>
          </a:p>
          <a:p/>
          <a:p>
            <a:r>
              <a:t>Model bunun dışında hiçbir şey görmüyor.</a:t>
            </a:r>
          </a:p>
          <a:p/>
          <a:p>
            <a:r>
              <a:t>AI rastgele cevap üretmiyor; uygulamanın kurduğu yapılandırılmış bağlam</a:t>
            </a:r>
          </a:p>
          <a:p>
            <a:r>
              <a:t>üzerinden konuşuyor.</a:t>
            </a:r>
          </a:p>
          <a:p/>
          <a:p>
            <a:r>
              <a:t>[Geçiş] Ve bir de görmediği şeyler var - bence en ilginç kısmı orası.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Modele TL tutarı vermiyoruz. Sebebi şu: ekrandaki kart "146,77 lira"</a:t>
            </a:r>
          </a:p>
          <a:p>
            <a:r>
              <a:t>yazıyor. Model aynı sayıyı "yaklaşık 150 lira" diye yazdığı an kullanıcı</a:t>
            </a:r>
          </a:p>
          <a:p>
            <a:r>
              <a:t>hangisine güveneceğini bilemez. Oran vermek zararsız - "üçte ikisi" ile "%62"</a:t>
            </a:r>
          </a:p>
          <a:p>
            <a:r>
              <a:t>aynı şeyi söylüyor.</a:t>
            </a:r>
          </a:p>
          <a:p/>
          <a:p>
            <a:r>
              <a:t>Kimlik de gitmiyor. Yani model kullanıcıyı TANIMIYOR; sadece davranışını görüyor.</a:t>
            </a:r>
          </a:p>
          <a:p/>
          <a:p>
            <a:r>
              <a:t>[Geçiş] Peki bu üç katman bir araya gelince ne oluyor?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 bir işlem hiçbir şey söylemez. Ama kullanıcı "uzun vadeli</a:t>
            </a:r>
          </a:p>
          <a:p>
            <a:r>
              <a:t>tutacağım" yazıp ertesi gün sattıysa - VE bu beş altı kez tekrarlanıyorsa -</a:t>
            </a:r>
          </a:p>
          <a:p>
            <a:r>
              <a:t>ortada bir örüntü var.</a:t>
            </a:r>
          </a:p>
          <a:p/>
          <a:p>
            <a:r>
              <a:t>Hiçbir gösterge bunu tek başına yakalayamaz, çünkü niyet ölçülemiyor. Notu</a:t>
            </a:r>
          </a:p>
          <a:p>
            <a:r>
              <a:t>kullanıcı kendisi yazdığı için model söylenenle yapılanı yan yana koyabiliyor.</a:t>
            </a:r>
          </a:p>
          <a:p/>
          <a:p>
            <a:r>
              <a:t>[Geçiş] Bu bağlamdan nasıl bir cevap çıkıyor, örnekle göstereyim.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Kullanıcı soruyor, sunucu bağlamı kuruyor, model yorumluyor.</a:t>
            </a:r>
          </a:p>
          <a:p/>
          <a:p>
            <a:r>
              <a:t>Cevabın hiçbir cümlesi havada değil: bulgu ölçülmüş, not gerçekten yazılmış,</a:t>
            </a:r>
          </a:p>
          <a:p>
            <a:r>
              <a:t>işlem gerçekten yapılmış.</a:t>
            </a:r>
          </a:p>
          <a:p/>
          <a:p>
            <a:r>
              <a:t>Ve dikkat edin - sonunda bir TAVSİYE değil, bir SORU var.</a:t>
            </a:r>
          </a:p>
          <a:p/>
          <a:p>
            <a:r>
              <a:t>[Geçiş] Peki bu bir chatbot mu? Hayır - ve farkı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Chatbot'ta akış tek yönlüdür: soru gelir, cevap gider. Bizde modelin</a:t>
            </a:r>
          </a:p>
          <a:p>
            <a:r>
              <a:t>önünde ÖLÇÜLMÜŞ bir bağlam var.</a:t>
            </a:r>
          </a:p>
          <a:p/>
          <a:p>
            <a:r>
              <a:t>Ve bir de sınır var - sistem yönergesinde yazılı: fiyat tahmini yapmaz, "şu</a:t>
            </a:r>
          </a:p>
          <a:p>
            <a:r>
              <a:t>coini al" demez. Ama bir YÖNTEMİN mantıklı olup olmadığını tartışabilir.</a:t>
            </a:r>
          </a:p>
          <a:p/>
          <a:p>
            <a:r>
              <a:t>Ayrım şurada: çeşitlendirmenin riski azalttığını söylemek doğrudur ve tahmin</a:t>
            </a:r>
          </a:p>
          <a:p>
            <a:r>
              <a:t>değildir; belirli bir varlığın ne yapacağını söylemek ise kimsenin bilmediği</a:t>
            </a:r>
          </a:p>
          <a:p>
            <a:r>
              <a:t>bir şeydir.</a:t>
            </a:r>
          </a:p>
          <a:p/>
          <a:p>
            <a:r>
              <a:t>[Geçiş] Bütün bunların altındaki veri nereden geliyor?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Altı bağımsız kaynak. Kripto Binance'ten dolar bazında geliyor, TL'ye</a:t>
            </a:r>
          </a:p>
          <a:p>
            <a:r>
              <a:t>TCMB'nin RESMÎ kuruyla çevriliyor - borsanın kendi kurunu kullanmıyoruz, çünkü</a:t>
            </a:r>
          </a:p>
          <a:p>
            <a:r>
              <a:t>lig sıralamasının herkes için aynı, oynamayan bir kura dayanması gerekiyor.</a:t>
            </a:r>
          </a:p>
          <a:p/>
          <a:p>
            <a:r>
              <a:t>Altın LBMA'dan ons olarak gelip grama çevriliyor. TÜFE'yi de çekiyoruz, çünkü</a:t>
            </a:r>
          </a:p>
          <a:p>
            <a:r>
              <a:t>"ya alsaydın" hesabında enflasyondan arındırılmış REEL getiriyi gösteriyoruz.</a:t>
            </a:r>
          </a:p>
          <a:p/>
          <a:p>
            <a:r>
              <a:t>[Geçiş] Bu veriler hangi katmanlardan geçiyor?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Mobil taraf React Native. API Node ve TypeScript - gelen her istek</a:t>
            </a:r>
          </a:p>
          <a:p>
            <a:r>
              <a:t>Zod ile doğrulanıyor. Veritabanı Postgres: portföy, emirler, notlar ve fiyat</a:t>
            </a:r>
          </a:p>
          <a:p>
            <a:r>
              <a:t>geçmişi burada.</a:t>
            </a:r>
          </a:p>
          <a:p/>
          <a:p>
            <a:r>
              <a:t>Piyasa katmanı 15 saniyede bir fiyat yazıyor. Davranış katmanı ise emir</a:t>
            </a:r>
          </a:p>
          <a:p>
            <a:r>
              <a:t>geçmişinden göstergeleri hesaplayıp Gemini'ye YALNIZCA yorumlatıyor.</a:t>
            </a:r>
          </a:p>
          <a:p/>
          <a:p>
            <a:r>
              <a:t>Dikkat: Gemini bu diyagramda en altta ve en dar kutuda - çünkü işi en küçük</a:t>
            </a:r>
          </a:p>
          <a:p>
            <a:r>
              <a:t>olan o.</a:t>
            </a:r>
          </a:p>
          <a:p/>
          <a:p>
            <a:r>
              <a:t>[Geçiş] Bir de para tarafında anlatmam gereken bir detay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[Teknik jüri varsa bu slaytı atlama]</a:t>
            </a:r>
          </a:p>
          <a:p/>
          <a:p>
            <a:r>
              <a:t>Parayı ondalık sayı olarak tutmuyoruz - çünkü bilgisayarda 0.1 artı 0.2 üçte</a:t>
            </a:r>
          </a:p>
          <a:p>
            <a:r>
              <a:t>bir etmiyor. Bakiye, fiyat ve miktar tam sayı olarak saklanıyor ve her bölme</a:t>
            </a:r>
          </a:p>
          <a:p>
            <a:r>
              <a:t>tek bir yuvarlama fonksiyonundan geçiyor.</a:t>
            </a:r>
          </a:p>
          <a:p/>
          <a:p>
            <a:r>
              <a:t>Aksi hâlde her işlemde kullanıcı aleyhine kuruş erir ve bu FARK EDİLMEZ.</a:t>
            </a:r>
          </a:p>
          <a:p/>
          <a:p>
            <a:r>
              <a:t>[Geçiş] Şimdi hepsini bir arada, canlı görelim.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[CANLI DEMO]</a:t>
            </a:r>
          </a:p>
          <a:p/>
          <a:p>
            <a:r>
              <a:t>Şimdi baştan sona bir tur atalım. Alıyorum, notumu yazıyorum. Piyasa aleyhime</a:t>
            </a:r>
          </a:p>
          <a:p>
            <a:r>
              <a:t>dönüyor, satıyorum, ikinci notumu yazıyorum. Ve şimdi koça soruyorum.</a:t>
            </a:r>
          </a:p>
          <a:p/>
          <a:p>
            <a:r>
              <a:t>DİKKAT EDİN: ben ona hiçbir şey anlatmadım. Ne aldığımı, ne düşündüğümü, ne</a:t>
            </a:r>
          </a:p>
          <a:p>
            <a:r>
              <a:t>kaybettiğimi sistem zaten biliyor.</a:t>
            </a:r>
          </a:p>
          <a:p/>
          <a:p>
            <a:r>
              <a:t>⚠️ HAZIRLIK: demo hesabında birkaç haftalık işlem + not geçmişi hazır olsun,</a:t>
            </a:r>
          </a:p>
          <a:p>
            <a:r>
              <a:t>yoksa AI örüntü göremez. Sunumdan önce internet ve API ayakta mı kontrol et.</a:t>
            </a:r>
          </a:p>
          <a:p/>
          <a:p>
            <a:r>
              <a:t>[Geçiş] Bu, klasik bir yatırım uygulamasından ne kadar farklı?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Soldaki cümle veriyi bilgiye çeviriyor. Sağdaki ise bilgiyi ANLAYIŞA</a:t>
            </a:r>
          </a:p>
          <a:p>
            <a:r>
              <a:t>çeviriyor.</a:t>
            </a:r>
          </a:p>
          <a:p/>
          <a:p>
            <a:r>
              <a:t>Aradaki mesafe, bu projenin tamamı.</a:t>
            </a:r>
          </a:p>
          <a:p/>
          <a:p>
            <a:r>
              <a:t>[Geçiş] Buradan nereye gidebilir?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Bundan sonrası için hedefimiz kullanıcıya ne alıp satacağını söyleyen</a:t>
            </a:r>
          </a:p>
          <a:p>
            <a:r>
              <a:t>bir sistem DEĞİL. Öyle bir sistem zaten yapılamaz; yapıldığını iddia eden varsa</a:t>
            </a:r>
          </a:p>
          <a:p>
            <a:r>
              <a:t>şüpheyle bakın. Bizim hedefimiz, kullanıcının kendi kararlarını daha bilinçli</a:t>
            </a:r>
          </a:p>
          <a:p>
            <a:r>
              <a:t>vermesini sağlamak.</a:t>
            </a:r>
          </a:p>
          <a:p/>
          <a:p>
            <a:r>
              <a:t>Başta şunu söylemiştim: yatırımcı veriyi görüyor ama ne anlama geldiğini</a:t>
            </a:r>
          </a:p>
          <a:p>
            <a:r>
              <a:t>bilmiyor. Bizim sistemimiz ona sadece piyasayı göstermiyor - KENDİ GEÇMİŞİNİ</a:t>
            </a:r>
          </a:p>
          <a:p>
            <a:r>
              <a:t>de gösteriyor.</a:t>
            </a:r>
          </a:p>
          <a:p/>
          <a:p>
            <a:r>
              <a:t>Çünkü iyi bir yatırım sistemi sadece piyasayı takip etmemeli; yatırımcıyı da</a:t>
            </a:r>
          </a:p>
          <a:p>
            <a:r>
              <a:t>anlamalı.</a:t>
            </a:r>
          </a:p>
          <a:p/>
          <a:p>
            <a:r>
              <a:t>[Sonra SUS ve BEKLE. Soru gelsin.]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09728" cy="6858000"/>
          </a:xfrm>
          <a:prstGeom prst="roundRect">
            <a:avLst>
              <a:gd name="adj" fmla="val 55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0B981"/>
                </a:solidFill>
                <a:latin typeface="Consolas"/>
              </a:defRPr>
            </a:pPr>
            <a:r>
              <a:t>PORTFÖY LİGİ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34290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3400" b="1">
                <a:solidFill>
                  <a:srgbClr val="FFFFFF"/>
                </a:solidFill>
                <a:latin typeface="Segoe UI"/>
              </a:defRPr>
            </a:pPr>
            <a:r>
              <a:t>Yatırımcıyı da anlayan bir yatırım platformu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3429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defRPr sz="1500" b="0">
                <a:solidFill>
                  <a:srgbClr val="A6A6AC"/>
                </a:solidFill>
                <a:latin typeface="Segoe UI"/>
              </a:defRPr>
            </a:pPr>
            <a:r>
              <a:t>Sanal parayla gerçek piyasa. Kullanıcının yatırım davranışını ölçen ve yorumlayan AI koçu.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874519"/>
            <a:ext cx="3429000" cy="749808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50 varlık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kripto · döviz · maden · hisse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2752343"/>
            <a:ext cx="3429000" cy="749808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 canlı veri kaynağı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hiçbir fiyat elle yazılmadı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3630167"/>
            <a:ext cx="3429000" cy="749808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7 davranış göstergesi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sunucuda ölçülüyor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t>PERDE 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Bir yatırımcının günü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3429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"Bitcoin ne durumda?"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19872" y="1737360"/>
            <a:ext cx="3429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800"/>
              </a:spcAft>
              <a:defRPr sz="1900" b="0">
                <a:solidFill>
                  <a:srgbClr val="7A7A82"/>
                </a:solidFill>
                <a:latin typeface="Segoe UI"/>
              </a:defRPr>
            </a:pPr>
            <a:r>
              <a:t>Portföyüm neden düştü?</a:t>
            </a:r>
          </a:p>
          <a:p>
            <a:pPr algn="l">
              <a:lnSpc>
                <a:spcPct val="125000"/>
              </a:lnSpc>
              <a:spcAft>
                <a:spcPts val="1800"/>
              </a:spcAft>
              <a:defRPr sz="1900" b="0">
                <a:solidFill>
                  <a:srgbClr val="7A7A82"/>
                </a:solidFill>
                <a:latin typeface="Segoe UI"/>
              </a:defRPr>
            </a:pPr>
            <a:r>
              <a:t>Geçen hafta neden zarar ettim?</a:t>
            </a:r>
          </a:p>
          <a:p>
            <a:pPr algn="l">
              <a:lnSpc>
                <a:spcPct val="125000"/>
              </a:lnSpc>
              <a:spcAft>
                <a:spcPts val="1800"/>
              </a:spcAft>
              <a:defRPr sz="1900" b="0">
                <a:solidFill>
                  <a:srgbClr val="7A7A82"/>
                </a:solidFill>
                <a:latin typeface="Segoe UI"/>
              </a:defRPr>
            </a:pPr>
            <a:r>
              <a:t>Hangi işlemi yanlış yaptım?</a:t>
            </a:r>
          </a:p>
          <a:p>
            <a:pPr algn="l">
              <a:lnSpc>
                <a:spcPct val="125000"/>
              </a:lnSpc>
              <a:spcAft>
                <a:spcPts val="1800"/>
              </a:spcAft>
              <a:defRPr sz="1900" b="0">
                <a:solidFill>
                  <a:srgbClr val="7A7A82"/>
                </a:solidFill>
                <a:latin typeface="Segoe UI"/>
              </a:defRPr>
            </a:pPr>
            <a:r>
              <a:t>Aynı hatayı tekrar mı ediyorum?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t>PERDE 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2700" b="1">
                <a:solidFill>
                  <a:srgbClr val="FFFFFF"/>
                </a:solidFill>
                <a:latin typeface="Segoe UI"/>
              </a:defRPr>
            </a:pPr>
            <a:r>
              <a:t>Veriyi görmek, veriyi anlamak değildir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200400"/>
            <a:ext cx="3429000" cy="228600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1200"/>
              </a:spcAft>
              <a:defRPr sz="1200" b="1">
                <a:solidFill>
                  <a:srgbClr val="EF4444"/>
                </a:solidFill>
                <a:latin typeface="Consolas"/>
              </a:defRPr>
            </a:pPr>
            <a:r>
              <a:t>GÖRMEK</a:t>
            </a:r>
          </a:p>
          <a:p>
            <a:pPr algn="l">
              <a:spcAft>
                <a:spcPts val="900"/>
              </a:spcAft>
              <a:defRPr sz="1600" b="0">
                <a:solidFill>
                  <a:srgbClr val="A6A6AC"/>
                </a:solidFill>
                <a:latin typeface="Segoe UI"/>
              </a:defRPr>
            </a:pPr>
            <a:r>
              <a:t>"BTC −%6"</a:t>
            </a:r>
          </a:p>
          <a:p>
            <a:pPr algn="l">
              <a:spcAft>
                <a:spcPts val="900"/>
              </a:spcAft>
              <a:defRPr sz="1600" b="0">
                <a:solidFill>
                  <a:srgbClr val="A6A6AC"/>
                </a:solidFill>
                <a:latin typeface="Segoe UI"/>
              </a:defRPr>
            </a:pPr>
            <a:r>
              <a:t>"Portföyün %4 düştü"</a:t>
            </a:r>
          </a:p>
          <a:p>
            <a:pPr algn="l">
              <a:spcAft>
                <a:spcPts val="900"/>
              </a:spcAft>
              <a:defRPr sz="1600" b="0">
                <a:solidFill>
                  <a:srgbClr val="A6A6AC"/>
                </a:solidFill>
                <a:latin typeface="Segoe UI"/>
              </a:defRPr>
            </a:pPr>
            <a:r>
              <a:t>"12 işlem yaptın"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3200400"/>
            <a:ext cx="3429000" cy="228600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1200"/>
              </a:spcAft>
              <a:defRPr sz="1200" b="1">
                <a:solidFill>
                  <a:srgbClr val="10B981"/>
                </a:solidFill>
                <a:latin typeface="Consolas"/>
              </a:defRPr>
            </a:pPr>
            <a:r>
              <a:t>ANLAMAK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600" b="0">
                <a:solidFill>
                  <a:srgbClr val="F2F2F3"/>
                </a:solidFill>
                <a:latin typeface="Segoe UI"/>
              </a:defRPr>
            </a:pPr>
            <a:r>
              <a:t>"Fiyat yükseldikten SONRA alıyorsun"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600" b="0">
                <a:solidFill>
                  <a:srgbClr val="F2F2F3"/>
                </a:solidFill>
                <a:latin typeface="Segoe UI"/>
              </a:defRPr>
            </a:pPr>
            <a:r>
              <a:t>"Kârlıyı erken, zararlıyı geç satıyorsun"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defRPr sz="1600" b="0">
                <a:solidFill>
                  <a:srgbClr val="F2F2F3"/>
                </a:solidFill>
                <a:latin typeface="Segoe UI"/>
              </a:defRPr>
            </a:pPr>
            <a:r>
              <a:t>"Komisyon sermayenin %2'sini yedi"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t>PERDE 2 · ÇÖZÜM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3429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  <a:defRPr sz="2600" b="1">
                <a:solidFill>
                  <a:srgbClr val="A6A6AC"/>
                </a:solidFill>
                <a:latin typeface="Segoe UI"/>
              </a:defRPr>
            </a:pPr>
            <a:r>
              <a:t>Kullanıcı piyasayı takip ediyor;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2600" b="1">
                <a:solidFill>
                  <a:srgbClr val="10B981"/>
                </a:solidFill>
                <a:latin typeface="Segoe UI"/>
              </a:defRPr>
            </a:pPr>
            <a:r>
              <a:t>sistem kullanıcıyı takip ediyor.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19872" y="2377440"/>
            <a:ext cx="3429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Sadece bir yatırım simülasyonu değil.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  <a:defRPr sz="1600" b="0">
                <a:solidFill>
                  <a:srgbClr val="A6A6AC"/>
                </a:solidFill>
                <a:latin typeface="Segoe UI"/>
              </a:defRPr>
            </a:pPr>
            <a:r>
              <a:t>Sistem, kullanıcının yatırım davranışını da kaydediyor ve anlamlandırıyor.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t>PERDE 2 · ÜRÜN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Beş sekme, tek akış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34290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10B981"/>
                </a:solidFill>
                <a:latin typeface="Consolas"/>
              </a:defRPr>
            </a:pPr>
            <a:r>
              <a:t>100.000 ₺</a:t>
            </a:r>
          </a:p>
          <a:p>
            <a:pPr algn="l">
              <a:spcAft>
                <a:spcPts val="1800"/>
              </a:spcAft>
              <a:defRPr sz="1500" b="0">
                <a:solidFill>
                  <a:srgbClr val="A6A6AC"/>
                </a:solidFill>
                <a:latin typeface="Segoe UI"/>
              </a:defRPr>
            </a:pPr>
            <a:r>
              <a:t>kayıt olunca sanal bakiye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400" b="0">
                <a:solidFill>
                  <a:srgbClr val="7A7A82"/>
                </a:solidFill>
                <a:latin typeface="Segoe UI"/>
              </a:defRPr>
            </a:pPr>
            <a:r>
              <a:t>Arkadaşlar, Ya Alsaydın ve profil sekme değil — ilgili yerden açılan katmanlar. Yer olana sekme verdik, araç olana vermedik.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234440"/>
            <a:ext cx="3429000" cy="658368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Akış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sosyal paylaşım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2002536"/>
            <a:ext cx="3429000" cy="658368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Piyasa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50 varlık, canlı fiyat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2770632"/>
            <a:ext cx="3429000" cy="658368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Lig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haftalık sıralama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3538728"/>
            <a:ext cx="3429000" cy="658368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Cüzdan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portföy &amp; kâr/zarar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4306824"/>
            <a:ext cx="3429000" cy="658368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KocAI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davranış koçu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t>PERDE 2 · ÜRÜN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2700" b="1">
                <a:solidFill>
                  <a:srgbClr val="FFFFFF"/>
                </a:solidFill>
                <a:latin typeface="Segoe UI"/>
              </a:defRPr>
            </a:pPr>
            <a:r>
              <a:t>Piyasa — dört varlık sınıfı, tek liste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34290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Arama · filtre · ₺/$ anahtarı</a:t>
            </a:r>
          </a:p>
          <a:p>
            <a:pPr algn="l">
              <a:spcAft>
                <a:spcPts val="16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15 saniyede bir canlı fiyat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400" b="0">
                <a:solidFill>
                  <a:srgbClr val="7A7A82"/>
                </a:solidFill>
                <a:latin typeface="Segoe UI"/>
              </a:defRPr>
            </a:pPr>
            <a:r>
              <a:t>Para birimi tercihi yalnızca bir gösterim merceği — lig sıralaması her zaman TL üzerinden, yoksa aynı portföy iki kullanıcıda farklı sıralanırdı.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371600"/>
            <a:ext cx="3429000" cy="82296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900" b="1">
                <a:solidFill>
                  <a:srgbClr val="10B981"/>
                </a:solidFill>
                <a:latin typeface="Segoe UI"/>
              </a:defRPr>
            </a:pPr>
            <a:r>
              <a:t>10  Kripto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Binance · 7/24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2322576"/>
            <a:ext cx="3429000" cy="82296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900" b="1">
                <a:solidFill>
                  <a:srgbClr val="10B981"/>
                </a:solidFill>
                <a:latin typeface="Segoe UI"/>
              </a:defRPr>
            </a:pPr>
            <a:r>
              <a:t>8  Döviz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TCMB resmî kur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3273552"/>
            <a:ext cx="3429000" cy="82296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900" b="1">
                <a:solidFill>
                  <a:srgbClr val="10B981"/>
                </a:solidFill>
                <a:latin typeface="Segoe UI"/>
              </a:defRPr>
            </a:pPr>
            <a:r>
              <a:t>2  Altın &amp; Gümüş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LBMA · 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4224528"/>
            <a:ext cx="3429000" cy="82296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900" b="1">
                <a:solidFill>
                  <a:srgbClr val="10B981"/>
                </a:solidFill>
                <a:latin typeface="Segoe UI"/>
              </a:defRPr>
            </a:pPr>
            <a:r>
              <a:t>30  ABD Hissesi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Yahoo · seans saatli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t>PERDE 2 · ÜRÜN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2700" b="1">
                <a:solidFill>
                  <a:srgbClr val="FFFFFF"/>
                </a:solidFill>
                <a:latin typeface="Segoe UI"/>
              </a:defRPr>
            </a:pPr>
            <a:r>
              <a:t>Varlık detayı — grafik sıfırdan yazıldı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34290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700" b="1">
                <a:solidFill>
                  <a:srgbClr val="10B981"/>
                </a:solidFill>
                <a:latin typeface="Segoe UI"/>
              </a:defRPr>
            </a:pPr>
            <a:r>
              <a:t>170.000 satır değil, 120 nokta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400" b="0">
                <a:solidFill>
                  <a:srgbClr val="7A7A82"/>
                </a:solidFill>
                <a:latin typeface="Segoe UI"/>
              </a:defRPr>
            </a:pPr>
            <a:r>
              <a:t>15 saniyelik cron günde varlık başına 5.760 satır yazıyor. Sunucu veriyi zaman kovalarına bölüp her kovadan son fiyatı alıyor — ekrana seyreltilmiş seri gidiyor.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371600"/>
            <a:ext cx="3429000" cy="804672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Hazır kütüphane yok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grafik elle SVG olarak çizildi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2304288"/>
            <a:ext cx="3429000" cy="804672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İki parmakla yakınlaştırma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serbest tarih penceresi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3236976"/>
            <a:ext cx="3429000" cy="804672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Sürükleyip okuma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o anın fiyatı ve tarihi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4169664"/>
            <a:ext cx="3429000" cy="804672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1G · 1H · 1A · 3A · 1Y · Tümü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2017'ye kadar geçmiş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t>PERDE 2 · ÜRÜN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İşlem yapılıyor — ve veri doğuyor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34290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Fiyatı sunucu belirler.</a:t>
            </a:r>
          </a:p>
          <a:p>
            <a:pPr algn="l">
              <a:lnSpc>
                <a:spcPct val="130000"/>
              </a:lnSpc>
              <a:spcAft>
                <a:spcPts val="2000"/>
              </a:spcAft>
              <a:defRPr sz="1400" b="0">
                <a:solidFill>
                  <a:srgbClr val="7A7A82"/>
                </a:solidFill>
                <a:latin typeface="Segoe UI"/>
              </a:defRPr>
            </a:pPr>
            <a:r>
              <a:t>İstemciden gelen fiyata güvenmiyoruz — güvenseydik ligi ilk gün kırardık.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Bu kayıtlar sadece portföyü güncellemek için tutulmuyor; AI'ın kullanıcıyı anlayabilmesi için veri üretiyor.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371600"/>
            <a:ext cx="3429000" cy="2747772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A6A6AC"/>
                </a:solidFill>
                <a:latin typeface="Consolas"/>
              </a:defRPr>
            </a:pPr>
            <a:r>
              <a:t>varlık      BTC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A6A6AC"/>
                </a:solidFill>
                <a:latin typeface="Consolas"/>
              </a:defRPr>
            </a:pPr>
            <a:r>
              <a:t>yön         ALIŞ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A6A6AC"/>
                </a:solidFill>
                <a:latin typeface="Consolas"/>
              </a:defRPr>
            </a:pPr>
            <a:r>
              <a:t>fiyat       sunucu belirler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A6A6AC"/>
                </a:solidFill>
                <a:latin typeface="Consolas"/>
              </a:defRPr>
            </a:pPr>
            <a:r>
              <a:t>miktar      0,05000000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A6A6AC"/>
                </a:solidFill>
                <a:latin typeface="Consolas"/>
              </a:defRPr>
            </a:pPr>
            <a:r>
              <a:t>zaman       2026-09-04 11:32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A6A6AC"/>
                </a:solidFill>
                <a:latin typeface="Consolas"/>
              </a:defRPr>
            </a:pPr>
            <a:r>
              <a:t>komisyon    ...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A6A6AC"/>
                </a:solidFill>
                <a:latin typeface="Consolas"/>
              </a:defRPr>
            </a:pPr>
            <a:r>
              <a:t>portföy payı  %14,2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A6A6AC"/>
                </a:solidFill>
                <a:latin typeface="Consolas"/>
              </a:defRPr>
            </a:pP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F5B53F"/>
                </a:solidFill>
                <a:latin typeface="Consolas"/>
              </a:defRPr>
            </a:pPr>
            <a:r>
              <a:t>kullanıcının notu: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F5B53F"/>
                </a:solidFill>
                <a:latin typeface="Consolas"/>
              </a:defRPr>
            </a:pPr>
            <a:r>
              <a:t>"düşüşü fırsat gördüm,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F5B53F"/>
                </a:solidFill>
                <a:latin typeface="Consolas"/>
              </a:defRPr>
            </a:pPr>
            <a:r>
              <a:t> uzun vadeli tutacağım"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F5B53F"/>
                </a:solidFill>
                <a:latin typeface="Consolas"/>
              </a:defRPr>
            </a:pPr>
            <a:r>
              <a:t>PERDE 2 · FARKLILAŞTIRICI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Ölçülemeyen şeyi kullanıcı kendisi yazıyor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34290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  <a:defRPr sz="1600" b="0">
                <a:solidFill>
                  <a:srgbClr val="A6A6AC"/>
                </a:solidFill>
                <a:latin typeface="Segoe UI"/>
              </a:defRPr>
            </a:pPr>
            <a:r>
              <a:t>İşlem geçmişi ne yaptığını söyler.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  <a:defRPr sz="1800" b="1">
                <a:solidFill>
                  <a:srgbClr val="F5B53F"/>
                </a:solidFill>
                <a:latin typeface="Segoe UI"/>
              </a:defRPr>
            </a:pPr>
            <a:r>
              <a:t>Not, neden yaptığını söyler.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400" b="0">
                <a:solidFill>
                  <a:srgbClr val="7A7A82"/>
                </a:solidFill>
                <a:latin typeface="Segoe UI"/>
              </a:defRPr>
            </a:pPr>
            <a:r>
              <a:t>Bir göstergeyle ne yaptığını ölçebilirsiniz; neden yaptığını ölçemezsiniz. Niyet ölçülemez — burada kullanıcı onu kendisi yazıyor.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463040"/>
            <a:ext cx="3429000" cy="100584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F5B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lnSpc>
                <a:spcPct val="125000"/>
              </a:lnSpc>
              <a:spcAft>
                <a:spcPts val="600"/>
              </a:spcAft>
              <a:defRPr sz="1600" b="1">
                <a:solidFill>
                  <a:srgbClr val="F2F2F3"/>
                </a:solidFill>
                <a:latin typeface="Segoe UI"/>
              </a:defRPr>
            </a:pPr>
            <a:r>
              <a:t>"Düşüşü fırsat gördüm, uzun vadeli tutacağım."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2606040"/>
            <a:ext cx="3429000" cy="100584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F5B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lnSpc>
                <a:spcPct val="125000"/>
              </a:lnSpc>
              <a:spcAft>
                <a:spcPts val="600"/>
              </a:spcAft>
              <a:defRPr sz="1600" b="1">
                <a:solidFill>
                  <a:srgbClr val="F2F2F3"/>
                </a:solidFill>
                <a:latin typeface="Segoe UI"/>
              </a:defRPr>
            </a:pPr>
            <a:r>
              <a:t>"Fiyat kaçıyor diye hemen aldım."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3749039"/>
            <a:ext cx="3429000" cy="100584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F5B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lnSpc>
                <a:spcPct val="125000"/>
              </a:lnSpc>
              <a:spcAft>
                <a:spcPts val="600"/>
              </a:spcAft>
              <a:defRPr sz="1600" b="1">
                <a:solidFill>
                  <a:srgbClr val="F2F2F3"/>
                </a:solidFill>
                <a:latin typeface="Segoe UI"/>
              </a:defRPr>
            </a:pPr>
            <a:r>
              <a:t>"Daha fazla düşmesinden korktum, sattım."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F5B53F"/>
                </a:solidFill>
                <a:latin typeface="Consolas"/>
              </a:defRPr>
            </a:pPr>
            <a:r>
              <a:t>PERDE 2 · ÜRÜN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Ya Alsaydın — tahmin değil, ölçüm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34290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Nominal getiri tek başına yanıltıcı.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  <a:defRPr sz="1400" b="0">
                <a:solidFill>
                  <a:srgbClr val="7A7A82"/>
                </a:solidFill>
                <a:latin typeface="Segoe UI"/>
              </a:defRPr>
            </a:pPr>
            <a:r>
              <a:t>%13.000'lik getirinin ne kadarı gerçek alım gücü artışı? TÜFE ile düzeltilmiş reel getiriyi ayrıca gösteriyoruz.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400" b="0">
                <a:solidFill>
                  <a:srgbClr val="7A7A82"/>
                </a:solidFill>
                <a:latin typeface="Segoe UI"/>
              </a:defRPr>
            </a:pPr>
            <a:r>
              <a:t>TÜFE verisi TCMB EVDS'den. Geçmiş fiyatlar gerçek: kripto 2017'ye, altın 1968'e kadar.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371600"/>
            <a:ext cx="3429000" cy="320040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F5B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lnSpc>
                <a:spcPct val="125000"/>
              </a:lnSpc>
              <a:spcAft>
                <a:spcPts val="1400"/>
              </a:spcAft>
              <a:defRPr sz="1400" b="0">
                <a:solidFill>
                  <a:srgbClr val="A6A6AC"/>
                </a:solidFill>
                <a:latin typeface="Segoe UI"/>
              </a:defRPr>
            </a:pPr>
            <a:r>
              <a:t>12 Mart 2020'de 10.000 ₺'lik Bitcoin alsaydın:</a:t>
            </a:r>
          </a:p>
          <a:p>
            <a:pPr algn="l">
              <a:spcAft>
                <a:spcPts val="1800"/>
              </a:spcAft>
              <a:defRPr sz="3200" b="1">
                <a:solidFill>
                  <a:srgbClr val="10B981"/>
                </a:solidFill>
                <a:latin typeface="Consolas"/>
              </a:defRPr>
            </a:pPr>
            <a:r>
              <a:t>1.327.552 ₺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A7A82"/>
                </a:solidFill>
                <a:latin typeface="Consolas"/>
              </a:defRPr>
            </a:pPr>
            <a:r>
              <a:t>nominal</a:t>
            </a:r>
          </a:p>
          <a:p>
            <a:pPr algn="l">
              <a:spcAft>
                <a:spcPts val="1200"/>
              </a:spcAft>
              <a:defRPr sz="1900" b="1">
                <a:solidFill>
                  <a:srgbClr val="A6A6AC"/>
                </a:solidFill>
                <a:latin typeface="Consolas"/>
              </a:defRPr>
            </a:pPr>
            <a:r>
              <a:t>+%13.175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7A7A82"/>
                </a:solidFill>
                <a:latin typeface="Consolas"/>
              </a:defRPr>
            </a:pPr>
            <a:r>
              <a:t>reel (TÜFE düzeltmeli)</a:t>
            </a:r>
          </a:p>
          <a:p>
            <a:pPr algn="l">
              <a:spcAft>
                <a:spcPts val="600"/>
              </a:spcAft>
              <a:defRPr sz="1900" b="1">
                <a:solidFill>
                  <a:srgbClr val="F5B53F"/>
                </a:solidFill>
                <a:latin typeface="Consolas"/>
              </a:defRPr>
            </a:pPr>
            <a:r>
              <a:t>+%1.351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t>PERDE 2 · ÜRÜN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2500" b="1">
                <a:solidFill>
                  <a:srgbClr val="FFFFFF"/>
                </a:solidFill>
                <a:latin typeface="Segoe UI"/>
              </a:defRPr>
            </a:pPr>
            <a:r>
              <a:t>Lig — kim daha çok yatırdı değil, kim daha iyi yönetti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200400"/>
            <a:ext cx="3429000" cy="219456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1200"/>
              </a:spcAft>
              <a:defRPr sz="1100" b="1">
                <a:solidFill>
                  <a:srgbClr val="EF4444"/>
                </a:solidFill>
                <a:latin typeface="Consolas"/>
              </a:defRPr>
            </a:pPr>
            <a:r>
              <a:t>MUTLAK BAKİYEYE GÖRE SIRALASAK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500" b="0">
                <a:solidFill>
                  <a:srgbClr val="A6A6AC"/>
                </a:solidFill>
                <a:latin typeface="Segoe UI"/>
              </a:defRPr>
            </a:pPr>
            <a:r>
              <a:t>Günlük bonus alan yeni kullanıcı "kazanmış" görünür. Sıralama, yatırım kararını değil bakiyeye para girişini ölçer.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371600"/>
            <a:ext cx="3429000" cy="219456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120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t>TWR — ZAMAN AĞIRLIKLI GETİRİ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500" b="0">
                <a:solidFill>
                  <a:srgbClr val="F2F2F3"/>
                </a:solidFill>
                <a:latin typeface="Segoe UI"/>
              </a:defRPr>
            </a:pPr>
            <a:r>
              <a:t>Para giriş/çıkışlarını getiriden ayırıyor. Ölçülen tek şey: yatırım kararlarının kendisi.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19872" y="3840480"/>
            <a:ext cx="3429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Haftalık dönem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400" b="0">
                <a:solidFill>
                  <a:srgbClr val="7A7A82"/>
                </a:solidFill>
                <a:latin typeface="Segoe UI"/>
              </a:defRPr>
            </a:pPr>
            <a:r>
              <a:t>Pazar 23:59'da otomatik kapanış, sıralama sunucuda mühürlenir.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400" b="0">
                <a:solidFill>
                  <a:srgbClr val="7A7A82"/>
                </a:solidFill>
                <a:latin typeface="Segoe UI"/>
              </a:defRPr>
            </a:pPr>
            <a:r>
              <a:t>Arkadaş sıralaması ayrı — asıl rekabet tanıdıklarla.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t>PERDE 2 · ÜRÜN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Akış — yatırım tek başına yapılan bir şey değil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34290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Yetki istemcide gizlenmiyor.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400" b="0">
                <a:solidFill>
                  <a:srgbClr val="7A7A82"/>
                </a:solidFill>
                <a:latin typeface="Segoe UI"/>
              </a:defRPr>
            </a:pPr>
            <a:r>
              <a:t>Admin paneli var ama yetki kontrolü sunucuda zorunlu tutuluyor — istemcide saklamak güvenlik değildir.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371600"/>
            <a:ext cx="3429000" cy="804672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Paylaşılabilir kartlar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işlem, portföy ya da "ya alsaydın" sonucu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2304288"/>
            <a:ext cx="3429000" cy="804672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Arkadaşlık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istek gönder/kabul et, ligde yan yana gel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3236976"/>
            <a:ext cx="3429000" cy="804672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Profil ve gizlilik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herkese / arkadaşlara / kimseye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4169664"/>
            <a:ext cx="3429000" cy="804672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Moderasyon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admin paneli, sunucu tarafı yetki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3B82F6"/>
                </a:solidFill>
                <a:latin typeface="Consolas"/>
              </a:defRPr>
            </a:pPr>
            <a:r>
              <a:t>PERDE 3 ·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Önce ne YAPMADIĞIMIZI söyleyeyim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3429000" cy="228600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1000"/>
              </a:spcAft>
              <a:defRPr sz="1100" b="1">
                <a:solidFill>
                  <a:srgbClr val="EF4444"/>
                </a:solidFill>
                <a:latin typeface="Consolas"/>
              </a:defRPr>
            </a:pPr>
            <a:r>
              <a:t>YAPMADIĞIMIZ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  <a:defRPr sz="1600" b="0">
                <a:solidFill>
                  <a:srgbClr val="A6A6AC"/>
                </a:solidFill>
                <a:latin typeface="Segoe UI"/>
              </a:defRPr>
            </a:pPr>
            <a:r>
              <a:t>"Bu kullanıcı hakkında ne düşünüyorsun?"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400" b="0">
                <a:solidFill>
                  <a:srgbClr val="7A7A82"/>
                </a:solidFill>
                <a:latin typeface="Segoe UI"/>
              </a:defRPr>
            </a:pPr>
            <a:r>
              <a:t>Ham veriyi modele atıp yorumlamasını istemek. Model o zaman uydurur — neyi konuşacağını bilmez.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371600"/>
            <a:ext cx="3429000" cy="228600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100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t>YAPTIĞIMIZ</a:t>
            </a:r>
          </a:p>
          <a:p>
            <a:pPr algn="l">
              <a:spcAft>
                <a:spcPts val="1000"/>
              </a:spcAft>
              <a:defRPr sz="1700" b="1">
                <a:solidFill>
                  <a:srgbClr val="F2F2F3"/>
                </a:solidFill>
                <a:latin typeface="Segoe UI"/>
              </a:defRPr>
            </a:pPr>
            <a:r>
              <a:t>Önce sunucuda ÖLÇÜYORUZ.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400" b="0">
                <a:solidFill>
                  <a:srgbClr val="A6A6AC"/>
                </a:solidFill>
                <a:latin typeface="Segoe UI"/>
              </a:defRPr>
            </a:pPr>
            <a:r>
              <a:t>Modele giden şey: ölçülmüş bulgular + oranlar + işlemler. Model yorumluyor, ölçmüyor.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19872" y="3977639"/>
            <a:ext cx="3429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Hesap bizde, dil modelinde değil.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3B82F6"/>
                </a:solidFill>
                <a:latin typeface="Consolas"/>
              </a:defRPr>
            </a:pPr>
            <a:r>
              <a:t>PERDE 3 ·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Yedi davranış göstergesi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3429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Bunlar suçlama değil, ölçüm.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400" b="0">
                <a:solidFill>
                  <a:srgbClr val="7A7A82"/>
                </a:solidFill>
                <a:latin typeface="Segoe UI"/>
              </a:defRPr>
            </a:pPr>
            <a:r>
              <a:t>Panik satışı ölçerken kodda şu not yazıyor: "disiplinli zarar kesme bu ölçümde aynı görünür; niyet ölçülemez, o yüzden suçlama yapılmaz."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400" b="0">
                <a:solidFill>
                  <a:srgbClr val="10B981"/>
                </a:solidFill>
                <a:latin typeface="Segoe UI"/>
              </a:defRPr>
            </a:pPr>
            <a:r>
              <a:t>Sunucuda deterministik hesaplanıyor — model bunları değiştiremiyor.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280160"/>
            <a:ext cx="3429000" cy="3136391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F5B53F"/>
                </a:solidFill>
                <a:latin typeface="Consolas"/>
              </a:defRPr>
            </a:pPr>
            <a:r>
              <a:t>overtrading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7A7A82"/>
                </a:solidFill>
                <a:latin typeface="Consolas"/>
              </a:defRPr>
            </a:pPr>
            <a:r>
              <a:t>  komisyonun sermayeden payı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F5B53F"/>
                </a:solidFill>
                <a:latin typeface="Consolas"/>
              </a:defRPr>
            </a:pPr>
            <a:r>
              <a:t>panic_selling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7A7A82"/>
                </a:solidFill>
                <a:latin typeface="Consolas"/>
              </a:defRPr>
            </a:pPr>
            <a:r>
              <a:t>  düşüş sonrası zararına satış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F5B53F"/>
                </a:solidFill>
                <a:latin typeface="Consolas"/>
              </a:defRPr>
            </a:pPr>
            <a:r>
              <a:t>fomo_buying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7A7A82"/>
                </a:solidFill>
                <a:latin typeface="Consolas"/>
              </a:defRPr>
            </a:pPr>
            <a:r>
              <a:t>  yükselmişken alım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F5B53F"/>
                </a:solidFill>
                <a:latin typeface="Consolas"/>
              </a:defRPr>
            </a:pPr>
            <a:r>
              <a:t>disposition_effect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7A7A82"/>
                </a:solidFill>
                <a:latin typeface="Consolas"/>
              </a:defRPr>
            </a:pPr>
            <a:r>
              <a:t>  kârlıyı kısa, zararlıyı uzun tutma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F5B53F"/>
                </a:solidFill>
                <a:latin typeface="Consolas"/>
              </a:defRPr>
            </a:pPr>
            <a:r>
              <a:t>averaging_down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7A7A82"/>
                </a:solidFill>
                <a:latin typeface="Consolas"/>
              </a:defRPr>
            </a:pPr>
            <a:r>
              <a:t>  zarardaki pozisyona ekleme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F5B53F"/>
                </a:solidFill>
                <a:latin typeface="Consolas"/>
              </a:defRPr>
            </a:pPr>
            <a:r>
              <a:t>wash_trade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7A7A82"/>
                </a:solidFill>
                <a:latin typeface="Consolas"/>
              </a:defRPr>
            </a:pPr>
            <a:r>
              <a:t>  satıp geri alma (tereddüt)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F5B53F"/>
                </a:solidFill>
                <a:latin typeface="Consolas"/>
              </a:defRPr>
            </a:pPr>
            <a:r>
              <a:t>concentration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7A7A82"/>
                </a:solidFill>
                <a:latin typeface="Consolas"/>
              </a:defRPr>
            </a:pPr>
            <a:r>
              <a:t>  tek varlıkta yoğunlaşma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3B82F6"/>
                </a:solidFill>
                <a:latin typeface="Consolas"/>
              </a:defRPr>
            </a:pPr>
            <a:r>
              <a:t>PERDE 3 · AI — EN KRITIK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AI'ın gördüğü tam bağlam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34290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Üç katman: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A6A6AC"/>
                </a:solidFill>
                <a:latin typeface="Segoe UI"/>
              </a:defRPr>
            </a:pPr>
            <a:r>
              <a:t>1. Sunucunun ölçtüğü bulgular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A6A6AC"/>
                </a:solidFill>
                <a:latin typeface="Segoe UI"/>
              </a:defRPr>
            </a:pPr>
            <a:r>
              <a:t>2. Portföyün ORANLARI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A6A6AC"/>
                </a:solidFill>
                <a:latin typeface="Segoe UI"/>
              </a:defRPr>
            </a:pPr>
            <a:r>
              <a:t>3. Son 20 işlem + kullanıcı notları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Model bunun dışında hiçbir şey görmüyor.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Consolas"/>
              </a:defRPr>
            </a:pPr>
            <a:r>
              <a:t>JSON değil — sistemin ürettiği yapılandırılmış metin bağlamı.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280160"/>
            <a:ext cx="3429000" cy="3529584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10B981"/>
                </a:solidFill>
                <a:latin typeface="Consolas"/>
              </a:defRPr>
            </a:pPr>
            <a:r>
              <a:t>Ölçülmüş bulgular: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A6A6AC"/>
                </a:solidFill>
                <a:latin typeface="Consolas"/>
              </a:defRPr>
            </a:pPr>
            <a:r>
              <a:t>1. Yükselişten sonra alım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A6A6AC"/>
                </a:solidFill>
                <a:latin typeface="Consolas"/>
              </a:defRPr>
            </a:pPr>
            <a:r>
              <a:t>   eğilimi (fomo_buying)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A6A6AC"/>
                </a:solidFill>
                <a:latin typeface="Consolas"/>
              </a:defRPr>
            </a:pP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10B981"/>
                </a:solidFill>
                <a:latin typeface="Consolas"/>
              </a:defRPr>
            </a:pPr>
            <a:r>
              <a:t>Portföy dağılımı (ORANLAR;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10B981"/>
                </a:solidFill>
                <a:latin typeface="Consolas"/>
              </a:defRPr>
            </a:pPr>
            <a:r>
              <a:t>TL tutarları verilmiyor):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A6A6AC"/>
                </a:solidFill>
                <a:latin typeface="Consolas"/>
              </a:defRPr>
            </a:pPr>
            <a:r>
              <a:t>  - BTC: %41.20, zararda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A6A6AC"/>
                </a:solidFill>
                <a:latin typeface="Consolas"/>
              </a:defRPr>
            </a:pPr>
            <a:r>
              <a:t>  - ETH: %22.05, kârda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A6A6AC"/>
                </a:solidFill>
                <a:latin typeface="Consolas"/>
              </a:defRPr>
            </a:pP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10B981"/>
                </a:solidFill>
                <a:latin typeface="Consolas"/>
              </a:defRPr>
            </a:pPr>
            <a:r>
              <a:t>Son işlemler: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A6A6AC"/>
                </a:solidFill>
                <a:latin typeface="Consolas"/>
              </a:defRPr>
            </a:pPr>
            <a:r>
              <a:t>  - 02-09 BTC ALDI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F5B53F"/>
                </a:solidFill>
                <a:latin typeface="Consolas"/>
              </a:defRPr>
            </a:pPr>
            <a:r>
              <a:t>    notu: "fiyat kaçıyor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F5B53F"/>
                </a:solidFill>
                <a:latin typeface="Consolas"/>
              </a:defRPr>
            </a:pPr>
            <a:r>
              <a:t>    diye aldım"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A6A6AC"/>
                </a:solidFill>
                <a:latin typeface="Consolas"/>
              </a:defRPr>
            </a:pPr>
            <a:r>
              <a:t>  - 03-09 BTC SATTI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F5B53F"/>
                </a:solidFill>
                <a:latin typeface="Consolas"/>
              </a:defRPr>
            </a:pPr>
            <a:r>
              <a:t>    notu: "düşmesinden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F5B53F"/>
                </a:solidFill>
                <a:latin typeface="Consolas"/>
              </a:defRPr>
            </a:pPr>
            <a:r>
              <a:t>    korktum"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3B82F6"/>
                </a:solidFill>
                <a:latin typeface="Consolas"/>
              </a:defRPr>
            </a:pPr>
            <a:r>
              <a:t>PERDE 3 ·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AI'ın bilerek GÖRMEDİKLERİ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3429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6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Modele ne VERİLMEDİĞİ, ne verildiği kadar tasarlanmış bir karar.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500" b="0">
                <a:solidFill>
                  <a:srgbClr val="A6A6AC"/>
                </a:solidFill>
                <a:latin typeface="Segoe UI"/>
              </a:defRPr>
            </a:pPr>
            <a:r>
              <a:t>Model kullanıcıyı tanımıyor — sadece davranışını görüyor.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371600"/>
            <a:ext cx="3429000" cy="132588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✕  TL tutarları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Ekran kesin rakamı gösteriyor; model "yaklaşık 150 lira" derse kullanıcı hangisine güveneceğini bilemez.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2843784"/>
            <a:ext cx="3429000" cy="132588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✕  Kullanıcı kimliği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Ad, e-posta, emir kimliği gönderilmiyor.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4315968"/>
            <a:ext cx="3429000" cy="132588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3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✕  Ham sayılar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300" b="0">
                <a:solidFill>
                  <a:srgbClr val="7A7A82"/>
                </a:solidFill>
                <a:latin typeface="Segoe UI"/>
              </a:defRPr>
            </a:pPr>
            <a:r>
              <a:t>Yalnızca bulgunun kendisi, arkasındaki ölçüm değil.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3B82F6"/>
                </a:solidFill>
                <a:latin typeface="Consolas"/>
              </a:defRPr>
            </a:pPr>
            <a:r>
              <a:t>PERDE 3 ·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Söylenen ile yapılanı karşılaştırmak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017520"/>
            <a:ext cx="3429000" cy="123444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F5B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800"/>
              </a:spcAft>
              <a:defRPr sz="1100" b="1">
                <a:solidFill>
                  <a:srgbClr val="F5B53F"/>
                </a:solidFill>
                <a:latin typeface="Consolas"/>
              </a:defRPr>
            </a:pPr>
            <a:r>
              <a:t>NOT — kullanıcının dediği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800" b="1">
                <a:solidFill>
                  <a:srgbClr val="F2F2F3"/>
                </a:solidFill>
                <a:latin typeface="Segoe UI"/>
              </a:defRPr>
            </a:pPr>
            <a:r>
              <a:t>"uzun vadeli tutacağım"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3429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A6A6AC"/>
                </a:solidFill>
                <a:latin typeface="Segoe UI"/>
              </a:defRPr>
            </a:pPr>
            <a:r>
              <a:t>Tek işlemde bu bir tesadüf.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Beş altı kez tekrarlanıyorsa — örüntü.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463040"/>
            <a:ext cx="3429000" cy="123444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800"/>
              </a:spcAft>
              <a:defRPr sz="1100" b="1">
                <a:solidFill>
                  <a:srgbClr val="EF4444"/>
                </a:solidFill>
                <a:latin typeface="Consolas"/>
              </a:defRPr>
            </a:pPr>
            <a:r>
              <a:t>GERÇEK — sistemin gördüğü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800" b="1">
                <a:solidFill>
                  <a:srgbClr val="F2F2F3"/>
                </a:solidFill>
                <a:latin typeface="Segoe UI"/>
              </a:defRPr>
            </a:pPr>
            <a:r>
              <a:t>ertesi gün sattı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19872" y="2971800"/>
            <a:ext cx="3429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  <a:defRPr sz="1500" b="0">
                <a:solidFill>
                  <a:srgbClr val="A6A6AC"/>
                </a:solidFill>
                <a:latin typeface="Segoe UI"/>
              </a:defRPr>
            </a:pPr>
            <a:r>
              <a:t>Hiçbir gösterge bunu tek başına yakalayamaz, çünkü niyet ölçülemiyor.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500" b="1">
                <a:solidFill>
                  <a:srgbClr val="F2F2F3"/>
                </a:solidFill>
                <a:latin typeface="Segoe UI"/>
              </a:defRPr>
            </a:pPr>
            <a:r>
              <a:t>Notu kullanıcı kendisi yazdığı için model ikisini yan yana koyabiliyor.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3B82F6"/>
                </a:solidFill>
                <a:latin typeface="Consolas"/>
              </a:defRPr>
            </a:pPr>
            <a:r>
              <a:t>PERDE 3 ·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Çıktı nasıl oluşuyor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3429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800"/>
              </a:spcAft>
              <a:defRPr sz="1400" b="0">
                <a:solidFill>
                  <a:srgbClr val="A6A6AC"/>
                </a:solidFill>
                <a:latin typeface="Consolas"/>
              </a:defRPr>
            </a:pPr>
            <a:r>
              <a:t>Soru → Sunucu bağlamı kurar → Model yorumlar → Cevap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  <a:defRPr sz="1500" b="0">
                <a:solidFill>
                  <a:srgbClr val="A6A6AC"/>
                </a:solidFill>
                <a:latin typeface="Segoe UI"/>
              </a:defRPr>
            </a:pPr>
            <a:r>
              <a:t>Cevabın hiçbir cümlesi havada değil: bulgu ölçülmüş, not gerçekten yazılmış, işlem gerçekten yapılmış.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600" b="1">
                <a:solidFill>
                  <a:srgbClr val="F5B53F"/>
                </a:solidFill>
                <a:latin typeface="Segoe UI"/>
              </a:defRPr>
            </a:pPr>
            <a:r>
              <a:t>Ve sonunda tavsiye değil, bir SORU var.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280160"/>
            <a:ext cx="3429000" cy="777240"/>
          </a:xfrm>
          <a:prstGeom prst="roundRect">
            <a:avLst>
              <a:gd name="adj" fmla="val 5500"/>
            </a:avLst>
          </a:prstGeom>
          <a:solidFill>
            <a:srgbClr val="1A1A1D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lnSpc>
                <a:spcPct val="125000"/>
              </a:lnSpc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"Son işlemlerimi nasıl değerlendiriyorsun?"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2240280"/>
            <a:ext cx="3429000" cy="301752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100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t>KocAI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400" b="0">
                <a:solidFill>
                  <a:srgbClr val="F2F2F3"/>
                </a:solidFill>
                <a:latin typeface="Segoe UI"/>
              </a:defRPr>
            </a:pPr>
            <a:r>
              <a:t>"Son işlemlerinde fiyat hızla yükseldikten sonra pozisyona girme eğilimin dikkat çekiyor. Notlarında birkaç kez 'kaçırıyorum' demişsin — bu FOMO kaynaklı işlem yapıyor olabileceğini düşündürüyor. Girmeden önce kendine tek bir soru sor: bu fiyattan almayı, fiyat yükselmeseydi de ister miydim?"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3B82F6"/>
                </a:solidFill>
                <a:latin typeface="Consolas"/>
              </a:defRPr>
            </a:pPr>
            <a:r>
              <a:t>PERDE 3 ·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Chatbot değil — sınırı kodda yazılı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7A7A82"/>
                </a:solidFill>
                <a:latin typeface="Consolas"/>
              </a:defRPr>
            </a:pPr>
            <a:r>
              <a:t>CHATBOT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337560"/>
            <a:ext cx="3429000" cy="598932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A6A6AC"/>
                </a:solidFill>
                <a:latin typeface="Consolas"/>
              </a:defRPr>
            </a:pPr>
            <a:r>
              <a:t>Soru → Model → Cevap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t>BİZİM SİSTEM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434840"/>
            <a:ext cx="3429000" cy="1243584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F2F2F3"/>
                </a:solidFill>
                <a:latin typeface="Consolas"/>
              </a:defRPr>
            </a:pPr>
            <a:r>
              <a:t>Piyasa + Portföy +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F2F2F3"/>
                </a:solidFill>
                <a:latin typeface="Consolas"/>
              </a:defRPr>
            </a:pPr>
            <a:r>
              <a:t>İşlem geçmişi + Notlar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10B981"/>
                </a:solidFill>
                <a:latin typeface="Consolas"/>
              </a:defRPr>
            </a:pPr>
            <a:r>
              <a:t>  → ÖLÇÜM → Model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10B981"/>
                </a:solidFill>
                <a:latin typeface="Consolas"/>
              </a:defRPr>
            </a:pPr>
            <a:r>
              <a:t>  → Geri bildirim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371600"/>
            <a:ext cx="3429000" cy="2532887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EF4444"/>
                </a:solidFill>
                <a:latin typeface="Consolas"/>
              </a:defRPr>
            </a:pPr>
            <a:r>
              <a:t>✕  Fiyat tahmini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7A7A82"/>
                </a:solidFill>
                <a:latin typeface="Consolas"/>
              </a:defRPr>
            </a:pPr>
            <a:r>
              <a:t>   "BTC yükselir mi"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7A7A82"/>
                </a:solidFill>
                <a:latin typeface="Consolas"/>
              </a:defRPr>
            </a:pPr>
            <a:r>
              <a:t>   "dip neresi"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A6A6AC"/>
                </a:solidFill>
                <a:latin typeface="Consolas"/>
              </a:defRPr>
            </a:pP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EF4444"/>
                </a:solidFill>
                <a:latin typeface="Consolas"/>
              </a:defRPr>
            </a:pPr>
            <a:r>
              <a:t>✕  Varlık tavsiyesi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7A7A82"/>
                </a:solidFill>
                <a:latin typeface="Consolas"/>
              </a:defRPr>
            </a:pPr>
            <a:r>
              <a:t>   "hangi coini alayım"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A6A6AC"/>
                </a:solidFill>
                <a:latin typeface="Consolas"/>
              </a:defRPr>
            </a:pP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10B981"/>
                </a:solidFill>
                <a:latin typeface="Consolas"/>
              </a:defRPr>
            </a:pPr>
            <a:r>
              <a:t>✓  İlke tartışması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7A7A82"/>
                </a:solidFill>
                <a:latin typeface="Consolas"/>
              </a:defRPr>
            </a:pPr>
            <a:r>
              <a:t>   "çeşitlendirmek riski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7A7A82"/>
                </a:solidFill>
                <a:latin typeface="Consolas"/>
              </a:defRPr>
            </a:pPr>
            <a:r>
              <a:t>    azaltır" — tahmin değil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9872" y="4434840"/>
            <a:ext cx="3429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500" b="1">
                <a:solidFill>
                  <a:srgbClr val="F5B53F"/>
                </a:solidFill>
                <a:latin typeface="Segoe UI"/>
              </a:defRPr>
            </a:pPr>
            <a:r>
              <a:t>Sınırı olmayan bir AI koçu, koç değil kumarhane rehberidir.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t>PERDE 4 · TEKNIK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Altı gerçek veri kaynağı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3429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  <a:defRPr sz="1500" b="1">
                <a:solidFill>
                  <a:srgbClr val="F2F2F3"/>
                </a:solidFill>
                <a:latin typeface="Segoe UI"/>
              </a:defRPr>
            </a:pPr>
            <a:r>
              <a:t>Kripto USD bazında geliyor, TL'ye TCMB'nin resmî kuruyla çevriliyor.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  <a:defRPr sz="1400" b="0">
                <a:solidFill>
                  <a:srgbClr val="7A7A82"/>
                </a:solidFill>
                <a:latin typeface="Segoe UI"/>
              </a:defRPr>
            </a:pPr>
            <a:r>
              <a:t>Borsanın kendi kuru kullanılmıyor — lig sıralaması herkes için aynı, oynamayan bir kura dayanmalı.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Fiyatların hiçbiri elle yazılmadı.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371600"/>
            <a:ext cx="3429000" cy="2962656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10B981"/>
                </a:solidFill>
                <a:latin typeface="Consolas"/>
              </a:defRPr>
            </a:pPr>
            <a:r>
              <a:t>Binance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A6A6AC"/>
                </a:solidFill>
                <a:latin typeface="Consolas"/>
              </a:defRPr>
            </a:pPr>
            <a:r>
              <a:t>  10 kripto · 2017'den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10B981"/>
                </a:solidFill>
                <a:latin typeface="Consolas"/>
              </a:defRPr>
            </a:pPr>
            <a:r>
              <a:t>TCMB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A6A6AC"/>
                </a:solidFill>
                <a:latin typeface="Consolas"/>
              </a:defRPr>
            </a:pPr>
            <a:r>
              <a:t>  8 döviz · resmî kur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10B981"/>
                </a:solidFill>
                <a:latin typeface="Consolas"/>
              </a:defRPr>
            </a:pPr>
            <a:r>
              <a:t>LBMA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A6A6AC"/>
                </a:solidFill>
                <a:latin typeface="Consolas"/>
              </a:defRPr>
            </a:pPr>
            <a:r>
              <a:t>  altın + gümüş · 1968'den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10B981"/>
                </a:solidFill>
                <a:latin typeface="Consolas"/>
              </a:defRPr>
            </a:pPr>
            <a:r>
              <a:t>TCMB EVDS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A6A6AC"/>
                </a:solidFill>
                <a:latin typeface="Consolas"/>
              </a:defRPr>
            </a:pPr>
            <a:r>
              <a:t>  TÜFE · reel getiri için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10B981"/>
                </a:solidFill>
                <a:latin typeface="Consolas"/>
              </a:defRPr>
            </a:pPr>
            <a:r>
              <a:t>Yahoo Finance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A6A6AC"/>
                </a:solidFill>
                <a:latin typeface="Consolas"/>
              </a:defRPr>
            </a:pPr>
            <a:r>
              <a:t>  30 ABD hissesi · 2017'den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3B82F6"/>
                </a:solidFill>
                <a:latin typeface="Consolas"/>
              </a:defRPr>
            </a:pPr>
            <a:r>
              <a:t>Google Gemini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100" b="0">
                <a:solidFill>
                  <a:srgbClr val="A6A6AC"/>
                </a:solidFill>
                <a:latin typeface="Consolas"/>
              </a:defRPr>
            </a:pPr>
            <a:r>
              <a:t>  yorumlama · fiyat değil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t>PERDE 4 · TEKNIK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Mimari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34290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600"/>
              </a:spcAft>
              <a:defRPr sz="1700" b="1">
                <a:solidFill>
                  <a:srgbClr val="F5B53F"/>
                </a:solidFill>
                <a:latin typeface="Segoe UI"/>
              </a:defRPr>
            </a:pPr>
            <a:r>
              <a:t>AI mimarinin merkezi değil, en son katmanı.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  <a:defRPr sz="1400" b="0">
                <a:solidFill>
                  <a:srgbClr val="7A7A82"/>
                </a:solidFill>
                <a:latin typeface="Segoe UI"/>
              </a:defRPr>
            </a:pPr>
            <a:r>
              <a:t>Merkez, ölçen backend. Gemini bu diyagramda en dar kutuda — çünkü işi en küçük olan o.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400" b="0">
                <a:solidFill>
                  <a:srgbClr val="A6A6AC"/>
                </a:solidFill>
                <a:latin typeface="Segoe UI"/>
              </a:defRPr>
            </a:pPr>
            <a:r>
              <a:t>Gelen her istek Zod ile doğrulanıyor.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234440"/>
            <a:ext cx="3429000" cy="372618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  <a:r>
              <a:t>React Native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7A7A82"/>
                </a:solidFill>
                <a:latin typeface="Consolas"/>
              </a:defRPr>
            </a:pPr>
            <a:r>
              <a:t>  mobil arayüz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7A7A82"/>
                </a:solidFill>
                <a:latin typeface="Consolas"/>
              </a:defRPr>
            </a:pPr>
            <a:r>
              <a:t>     │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  <a:r>
              <a:t>Node + Express + TS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7A7A82"/>
                </a:solidFill>
                <a:latin typeface="Consolas"/>
              </a:defRPr>
            </a:pPr>
            <a:r>
              <a:t>  API · Zod doğrulama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7A7A82"/>
                </a:solidFill>
                <a:latin typeface="Consolas"/>
              </a:defRPr>
            </a:pPr>
            <a:r>
              <a:t>     │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  <a:r>
              <a:t>PostgreSQL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7A7A82"/>
                </a:solidFill>
                <a:latin typeface="Consolas"/>
              </a:defRPr>
            </a:pPr>
            <a:r>
              <a:t>  portföy · emirler ·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7A7A82"/>
                </a:solidFill>
                <a:latin typeface="Consolas"/>
              </a:defRPr>
            </a:pPr>
            <a:r>
              <a:t>  notlar · fiyat geçmişi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7A7A82"/>
                </a:solidFill>
                <a:latin typeface="Consolas"/>
              </a:defRPr>
            </a:pPr>
            <a:r>
              <a:t>     │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10B981"/>
                </a:solidFill>
                <a:latin typeface="Consolas"/>
              </a:defRPr>
            </a:pPr>
            <a:r>
              <a:t>  ├─ Piyasa katmanı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7A7A82"/>
                </a:solidFill>
                <a:latin typeface="Consolas"/>
              </a:defRPr>
            </a:pPr>
            <a:r>
              <a:t>  │    cron: 15 sn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10B981"/>
                </a:solidFill>
                <a:latin typeface="Consolas"/>
              </a:defRPr>
            </a:pPr>
            <a:r>
              <a:t>  └─ Davranış katmanı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7A7A82"/>
                </a:solidFill>
                <a:latin typeface="Consolas"/>
              </a:defRPr>
            </a:pPr>
            <a:r>
              <a:t>       7 gösterge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7A7A82"/>
                </a:solidFill>
                <a:latin typeface="Consolas"/>
              </a:defRPr>
            </a:pPr>
            <a:r>
              <a:t>          │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3B82F6"/>
                </a:solidFill>
                <a:latin typeface="Consolas"/>
              </a:defRPr>
            </a:pPr>
            <a:r>
              <a:t>       Gemini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000" b="0">
                <a:solidFill>
                  <a:srgbClr val="7A7A82"/>
                </a:solidFill>
                <a:latin typeface="Consolas"/>
              </a:defRPr>
            </a:pPr>
            <a:r>
              <a:t>       yalnızca yorum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t>PERDE 4 · TEKNIK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Para aritmetiği — float yasak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3429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600"/>
              </a:spcAft>
              <a:defRPr sz="1600" b="1">
                <a:solidFill>
                  <a:srgbClr val="F2F2F3"/>
                </a:solidFill>
                <a:latin typeface="Segoe UI"/>
              </a:defRPr>
            </a:pPr>
            <a:r>
              <a:t>Aksi hâlde her işlemde kullanıcı aleyhine kuruş erir — ve bu fark edilmez.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400" b="0">
                <a:solidFill>
                  <a:srgbClr val="7A7A82"/>
                </a:solidFill>
                <a:latin typeface="Segoe UI"/>
              </a:defRPr>
            </a:pPr>
            <a:r>
              <a:t>Sanal para da olsa, para aritmetiği ciddiye alındı.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645920"/>
            <a:ext cx="3429000" cy="2318003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lnSpc>
                <a:spcPct val="110000"/>
              </a:lnSpc>
              <a:spcAft>
                <a:spcPts val="100"/>
              </a:spcAft>
              <a:defRPr sz="1200" b="0">
                <a:solidFill>
                  <a:srgbClr val="A6A6AC"/>
                </a:solidFill>
                <a:latin typeface="Consolas"/>
              </a:defRPr>
            </a:pPr>
            <a:r>
              <a:t>0.1 + 0.2 === 0.3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200" b="0">
                <a:solidFill>
                  <a:srgbClr val="EF4444"/>
                </a:solidFill>
                <a:latin typeface="Consolas"/>
              </a:defRPr>
            </a:pPr>
            <a:r>
              <a:t>        → false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200" b="0">
                <a:solidFill>
                  <a:srgbClr val="A6A6AC"/>
                </a:solidFill>
                <a:latin typeface="Consolas"/>
              </a:defRPr>
            </a:pPr>
          </a:p>
          <a:p>
            <a:pPr algn="l">
              <a:lnSpc>
                <a:spcPct val="110000"/>
              </a:lnSpc>
              <a:spcAft>
                <a:spcPts val="1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bizde: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200" b="0">
                <a:solidFill>
                  <a:srgbClr val="A6A6AC"/>
                </a:solidFill>
                <a:latin typeface="Consolas"/>
              </a:defRPr>
            </a:pPr>
            <a:r>
              <a:t>  bakiye · fiyat · miktar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  → hepsi bigint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200" b="0">
                <a:solidFill>
                  <a:srgbClr val="A6A6AC"/>
                </a:solidFill>
                <a:latin typeface="Consolas"/>
              </a:defRPr>
            </a:pPr>
          </a:p>
          <a:p>
            <a:pPr algn="l">
              <a:lnSpc>
                <a:spcPct val="110000"/>
              </a:lnSpc>
              <a:spcAft>
                <a:spcPts val="100"/>
              </a:spcAft>
              <a:defRPr sz="1200" b="0">
                <a:solidFill>
                  <a:srgbClr val="A6A6AC"/>
                </a:solidFill>
                <a:latin typeface="Consolas"/>
              </a:defRPr>
            </a:pPr>
            <a:r>
              <a:t>  bölme her yerde</a:t>
            </a:r>
          </a:p>
          <a:p>
            <a:pPr algn="l">
              <a:lnSpc>
                <a:spcPct val="110000"/>
              </a:lnSpc>
              <a:spcAft>
                <a:spcPts val="100"/>
              </a:spcAft>
              <a:defRPr sz="1200" b="0">
                <a:solidFill>
                  <a:srgbClr val="10B981"/>
                </a:solidFill>
                <a:latin typeface="Consolas"/>
              </a:defRPr>
            </a:pPr>
            <a:r>
              <a:t>  divRound'dan geçer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F5B53F"/>
                </a:solidFill>
                <a:latin typeface="Consolas"/>
              </a:defRPr>
            </a:pPr>
            <a:r>
              <a:t>PERDE 5 · CANLI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Yedi adımda bağlamın büyümesi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34290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  <a:defRPr sz="1700" b="1">
                <a:solidFill>
                  <a:srgbClr val="10B981"/>
                </a:solidFill>
                <a:latin typeface="Segoe UI"/>
              </a:defRPr>
            </a:pPr>
            <a:r>
              <a:t>Ben ona hiçbir şey anlatmadım.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  <a:defRPr sz="1500" b="0">
                <a:solidFill>
                  <a:srgbClr val="A6A6AC"/>
                </a:solidFill>
                <a:latin typeface="Segoe UI"/>
              </a:defRPr>
            </a:pPr>
            <a:r>
              <a:t>Ne aldığımı, ne düşündüğümü, ne kaybettiğimi sistem zaten biliyor.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400" b="0">
                <a:solidFill>
                  <a:srgbClr val="7A7A82"/>
                </a:solidFill>
                <a:latin typeface="Segoe UI"/>
              </a:defRPr>
            </a:pPr>
            <a:r>
              <a:t>Bağlam, uygulamayı kullanırken kendiliğinden oluşuyor.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19872" y="1371600"/>
            <a:ext cx="34290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  <a:defRPr sz="1500" b="1">
                <a:solidFill>
                  <a:srgbClr val="10B981"/>
                </a:solidFill>
                <a:latin typeface="Consolas"/>
              </a:defRPr>
            </a:pPr>
            <a:r>
              <a:t>1.  </a:t>
            </a:r>
            <a:r>
              <a:rPr sz="1500" b="0">
                <a:solidFill>
                  <a:srgbClr val="A6A6AC"/>
                </a:solidFill>
                <a:latin typeface="Segoe UI"/>
              </a:rPr>
              <a:t>Bitcoin alınıyor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  <a:defRPr sz="1500" b="1">
                <a:solidFill>
                  <a:srgbClr val="10B981"/>
                </a:solidFill>
                <a:latin typeface="Consolas"/>
              </a:defRPr>
            </a:pPr>
            <a:r>
              <a:t>2.  </a:t>
            </a:r>
            <a:r>
              <a:rPr sz="1500" b="1">
                <a:solidFill>
                  <a:srgbClr val="F2F2F3"/>
                </a:solidFill>
                <a:latin typeface="Segoe UI"/>
              </a:rPr>
              <a:t>Not: "yükseliş devam eder"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  <a:defRPr sz="1500" b="1">
                <a:solidFill>
                  <a:srgbClr val="10B981"/>
                </a:solidFill>
                <a:latin typeface="Consolas"/>
              </a:defRPr>
            </a:pPr>
            <a:r>
              <a:t>3.  </a:t>
            </a:r>
            <a:r>
              <a:rPr sz="1500" b="0">
                <a:solidFill>
                  <a:srgbClr val="A6A6AC"/>
                </a:solidFill>
                <a:latin typeface="Segoe UI"/>
              </a:rPr>
              <a:t>Piyasa düşüyor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  <a:defRPr sz="1500" b="1">
                <a:solidFill>
                  <a:srgbClr val="10B981"/>
                </a:solidFill>
                <a:latin typeface="Consolas"/>
              </a:defRPr>
            </a:pPr>
            <a:r>
              <a:t>4.  </a:t>
            </a:r>
            <a:r>
              <a:rPr sz="1500" b="1">
                <a:solidFill>
                  <a:srgbClr val="F2F2F3"/>
                </a:solidFill>
                <a:latin typeface="Segoe UI"/>
              </a:rPr>
              <a:t>Satılıyor + ikinci not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  <a:defRPr sz="1500" b="1">
                <a:solidFill>
                  <a:srgbClr val="10B981"/>
                </a:solidFill>
                <a:latin typeface="Consolas"/>
              </a:defRPr>
            </a:pPr>
            <a:r>
              <a:t>5.  </a:t>
            </a:r>
            <a:r>
              <a:rPr sz="1500" b="0">
                <a:solidFill>
                  <a:srgbClr val="A6A6AC"/>
                </a:solidFill>
                <a:latin typeface="Segoe UI"/>
              </a:rPr>
              <a:t>KocAI sekmesi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  <a:defRPr sz="1500" b="1">
                <a:solidFill>
                  <a:srgbClr val="10B981"/>
                </a:solidFill>
                <a:latin typeface="Consolas"/>
              </a:defRPr>
            </a:pPr>
            <a:r>
              <a:t>6.  </a:t>
            </a:r>
            <a:r>
              <a:rPr sz="1500" b="0">
                <a:solidFill>
                  <a:srgbClr val="A6A6AC"/>
                </a:solidFill>
                <a:latin typeface="Segoe UI"/>
              </a:rPr>
              <a:t>"Son işlemlerimi değerlendir"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  <a:defRPr sz="1500" b="1">
                <a:solidFill>
                  <a:srgbClr val="10B981"/>
                </a:solidFill>
                <a:latin typeface="Consolas"/>
              </a:defRPr>
            </a:pPr>
            <a:r>
              <a:t>7.  </a:t>
            </a:r>
            <a:r>
              <a:rPr sz="1500" b="1">
                <a:solidFill>
                  <a:srgbClr val="F2F2F3"/>
                </a:solidFill>
                <a:latin typeface="Segoe UI"/>
              </a:rPr>
              <a:t>AI bulgu + not + portföyü
birlikte yorumluyor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t>PERDE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Fark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3429000" cy="173736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1200"/>
              </a:spcAft>
              <a:defRPr sz="1100" b="1">
                <a:solidFill>
                  <a:srgbClr val="7A7A82"/>
                </a:solidFill>
                <a:latin typeface="Consolas"/>
              </a:defRPr>
            </a:pPr>
            <a:r>
              <a:t>GELENEKSEL UYGULAMA</a:t>
            </a:r>
          </a:p>
          <a:p>
            <a:pPr algn="l">
              <a:lnSpc>
                <a:spcPct val="125000"/>
              </a:lnSpc>
              <a:spcAft>
                <a:spcPts val="600"/>
              </a:spcAft>
              <a:defRPr sz="1700" b="0">
                <a:solidFill>
                  <a:srgbClr val="A6A6AC"/>
                </a:solidFill>
                <a:latin typeface="Segoe UI"/>
              </a:defRPr>
            </a:pPr>
            <a:r>
              <a:t>"Portföyünüz %4 düştü."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34840"/>
            <a:ext cx="3429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7A7A82"/>
                </a:solidFill>
                <a:latin typeface="Consolas"/>
              </a:defRPr>
            </a:pPr>
            <a:r>
              <a:t>Data → Information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F5B53F"/>
                </a:solidFill>
                <a:latin typeface="Consolas"/>
              </a:defRPr>
            </a:pPr>
            <a:r>
              <a:t>Data → Understanding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828800"/>
            <a:ext cx="3429000" cy="292608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spcAft>
                <a:spcPts val="120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t>PORTFÖY LİGİ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600" b="0">
                <a:solidFill>
                  <a:srgbClr val="F2F2F3"/>
                </a:solidFill>
                <a:latin typeface="Segoe UI"/>
              </a:defRPr>
            </a:pPr>
            <a:r>
              <a:t>"Portföyün %4 düştü. Son işlemlerine bakınca, özellikle hızlı yükselişlerden SONRA alım yapmışsın — ve notlarında iki kez 'kaçırıyorum' yazmışsın."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0B981"/>
                </a:solidFill>
                <a:latin typeface="Consolas"/>
              </a:defRPr>
            </a:pPr>
            <a:r>
              <a:t>PERDE 6 · KAPANIŞ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3429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Vizyon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3429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  <a:defRPr sz="1500" b="0">
                <a:solidFill>
                  <a:srgbClr val="A6A6AC"/>
                </a:solidFill>
                <a:latin typeface="Segoe UI"/>
              </a:defRPr>
            </a:pPr>
            <a:r>
              <a:t>·  Risk profili çıkarma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  <a:defRPr sz="1500" b="0">
                <a:solidFill>
                  <a:srgbClr val="A6A6AC"/>
                </a:solidFill>
                <a:latin typeface="Segoe UI"/>
              </a:defRPr>
            </a:pPr>
            <a:r>
              <a:t>·  İşlem sonrası anlık AI değerlendirmesi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  <a:defRPr sz="1500" b="0">
                <a:solidFill>
                  <a:srgbClr val="A6A6AC"/>
                </a:solidFill>
                <a:latin typeface="Segoe UI"/>
              </a:defRPr>
            </a:pPr>
            <a:r>
              <a:t>·  Uzun vadeli davranış değişimi takibi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  <a:defRPr sz="1500" b="0">
                <a:solidFill>
                  <a:srgbClr val="A6A6AC"/>
                </a:solidFill>
                <a:latin typeface="Segoe UI"/>
              </a:defRPr>
            </a:pPr>
            <a:r>
              <a:t>·  Kullanıcıya özel eğitim içerikleri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280160"/>
            <a:ext cx="3429000" cy="2103120"/>
          </a:xfrm>
          <a:prstGeom prst="roundRect">
            <a:avLst>
              <a:gd name="adj" fmla="val 5500"/>
            </a:avLst>
          </a:prstGeom>
          <a:solidFill>
            <a:srgbClr val="14141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lnSpc>
                <a:spcPct val="130000"/>
              </a:lnSpc>
              <a:spcAft>
                <a:spcPts val="1000"/>
              </a:spcAft>
              <a:defRPr sz="1400" b="0">
                <a:solidFill>
                  <a:srgbClr val="A6A6AC"/>
                </a:solidFill>
                <a:latin typeface="Segoe UI"/>
              </a:defRPr>
            </a:pPr>
            <a:r>
              <a:t>Amacımız kullanıcıya ne alıp satacağını söylemek değil;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600" b="1">
                <a:solidFill>
                  <a:srgbClr val="F2F2F3"/>
                </a:solidFill>
                <a:latin typeface="Segoe UI"/>
              </a:defRPr>
            </a:pPr>
            <a:r>
              <a:t>kendi kararlarını daha bilinçli verebilmesini sağlamak.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19872" y="3703320"/>
            <a:ext cx="34290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"İyi bir yatırım sistemi sadece piyasayı takip etmemeli;</a:t>
            </a:r>
          </a:p>
          <a:p>
            <a:pPr algn="l">
              <a:lnSpc>
                <a:spcPct val="125000"/>
              </a:lnSpc>
              <a:spcAft>
                <a:spcPts val="6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yatırımcıyı da anlamalı."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